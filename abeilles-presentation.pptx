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Ouvrières par ruche (milliers)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Ouvrières (milliers)</c:v>
                </c:pt>
              </c:strCache>
            </c:strRef>
          </c:tx>
          <c:spPr>
            <a:solidFill>
              <a:srgbClr val="BFE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E3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E3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FE3F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FE3FF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10</c:v>
                </c:pt>
                <c:pt idx="2">
                  <c:v>14</c:v>
                </c:pt>
                <c:pt idx="3">
                  <c:v>25</c:v>
                </c:pt>
                <c:pt idx="4">
                  <c:v>40</c:v>
                </c:pt>
                <c:pt idx="5">
                  <c:v>55</c:v>
                </c:pt>
                <c:pt idx="6">
                  <c:v>60</c:v>
                </c:pt>
                <c:pt idx="7">
                  <c:v>58</c:v>
                </c:pt>
                <c:pt idx="8">
                  <c:v>45</c:v>
                </c:pt>
                <c:pt idx="9">
                  <c:v>30</c:v>
                </c:pt>
                <c:pt idx="10">
                  <c:v>18</c:v>
                </c:pt>
                <c:pt idx="1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7FB0A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royaume de cire et de douceur : communauté, communication, miel, rôles, saisons et organisation, illustrés par des chibis. Confiance, tissée dans la cire.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ruche est une seule grande famille qui pense, travaille et se réchauffe ensemble : un superorganisme qui garde une température stable jour et nuit. Un tiers de notre alimentation dépend de la pollinisation.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reine pond, mais les ouvrières décident ensemble : où s’installer, quand essaimer, qui nourrir. Chacune change de métier en grandissant. Ensemble, on va plus loin.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butineuse revient danser : l’angle de la danse donne la direction par rapport au soleil, la durée du frétillement donne la distance. Bzzz = « suivez-moi !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nectar est ramené au jabot, transmis de bouche en bouche, puis ventilé par les ailes jusqu’à devenir miel et être operculé dans les alvéoles. Douceur, conservée pour l’hiver.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Reine, ouvrières, faux-bourdons : chacun son rôle dans la ruche.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été la colonie gonfle pour butiner ; en hiver elle se resserre autour de la reine.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couvain occupe le centre, le plus chaud. Autour, l’anneau de pollen, puis les réserves de miel en haut. L’hexagone économise la cire et ne perd aucune place. Chaque cellule a sa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Tailles moyennes, à l’échelle relative. Le frelon asiatique se signale aux autorités locales, on ne détruit pas le nid soi-même.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thème garde la même couleur sur le site, les cartes et ces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geste compte pour la ruche : voici trois façons d’aider les abeilles au quotidien. Protégeons-les, elles nous le rendent en douceur.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7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PRÉSENTATION DU SITE BZZZ</a:t>
            </a:r>
            <a:endParaRPr lang="en-US" sz="1400" dirty="0"/>
          </a:p>
        </p:txBody>
      </p:sp>
      <p:sp>
        <p:nvSpPr>
          <p:cNvPr id="3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monde des abeilles</a:t>
            </a:r>
            <a:endParaRPr lang="en-US" sz="5000" dirty="0"/>
          </a:p>
        </p:txBody>
      </p:sp>
      <p:sp>
        <p:nvSpPr>
          <p:cNvPr id="4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 royaume de cire et de douceur : communauté, communication, miel, rôles, saisons et organisation, illustrés par des chibis.</a:t>
            </a:r>
            <a:endParaRPr lang="en-US" sz="1800" dirty="0"/>
          </a:p>
        </p:txBody>
      </p:sp>
      <p:sp>
        <p:nvSpPr>
          <p:cNvPr id="5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thèmes</a:t>
            </a:r>
            <a:endParaRPr lang="en-US" sz="2800" dirty="0"/>
          </a:p>
        </p:txBody>
      </p:sp>
      <p:sp>
        <p:nvSpPr>
          <p:cNvPr id="6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cartes à jouer</a:t>
            </a:r>
            <a:endParaRPr lang="en-US" sz="2800" dirty="0"/>
          </a:p>
        </p:txBody>
      </p:sp>
      <p:sp>
        <p:nvSpPr>
          <p:cNvPr id="7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questions de quiz</a:t>
            </a:r>
            <a:endParaRPr lang="en-US" sz="2800" dirty="0"/>
          </a:p>
        </p:txBody>
      </p:sp>
      <p:sp>
        <p:nvSpPr>
          <p:cNvPr id="8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Confiance, tissée dans la cire.</a:t>
            </a:r>
            <a:endParaRPr lang="en-US" sz="1600" dirty="0"/>
          </a:p>
        </p:txBody>
      </p:sp>
      <p:sp>
        <p:nvSpPr>
          <p:cNvPr id="9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0" name="A|zoom|600" descr="/home/claude/bees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11" name="A|fade|1300" descr="/home/claude/bees/fl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12" name="A|fade|1500" descr="/home/claude/bees/p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7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639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BIENVENUE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royaume de cire et de douceur</a:t>
            </a:r>
            <a:endParaRPr lang="en-US" sz="3800" dirty="0"/>
          </a:p>
        </p:txBody>
      </p:sp>
      <p:sp>
        <p:nvSpPr>
          <p:cNvPr id="17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Une ruche est une seule grande famille qui pense, travaille et se réchauffe ensemble : un superorganisme qui garde une température stable jour et nuit.</a:t>
            </a:r>
            <a:endParaRPr lang="en-US" sz="1800" dirty="0"/>
          </a:p>
        </p:txBody>
      </p:sp>
      <p:sp>
        <p:nvSpPr>
          <p:cNvPr id="18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abeilles en été</a:t>
            </a:r>
            <a:endParaRPr lang="en-US" sz="2800" dirty="0"/>
          </a:p>
        </p:txBody>
      </p:sp>
      <p:sp>
        <p:nvSpPr>
          <p:cNvPr id="19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°C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 cœur du couvain</a:t>
            </a:r>
            <a:endParaRPr lang="en-US" sz="2800" dirty="0"/>
          </a:p>
        </p:txBody>
      </p:sp>
      <p:sp>
        <p:nvSpPr>
          <p:cNvPr id="20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seule reine</a:t>
            </a:r>
            <a:endParaRPr lang="en-US" sz="2800" dirty="0"/>
          </a:p>
        </p:txBody>
      </p:sp>
      <p:sp>
        <p:nvSpPr>
          <p:cNvPr id="21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Un tiers de notre alimentation dépend de la pollinisation.</a:t>
            </a:r>
            <a:endParaRPr lang="en-US" sz="1600" dirty="0"/>
          </a:p>
        </p:txBody>
      </p:sp>
      <p:sp>
        <p:nvSpPr>
          <p:cNvPr id="22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3" name="A|zoom|600" descr="/home/claude/bees/n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24" name="A|fade|1300" descr="/home/claude/bees/fl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25" name="A|fade|1500" descr="/home/claude/bees/p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09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3B241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3B2412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3B2412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3B2412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3B2412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7518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B2412"/>
                </a:solidFill>
              </a:rPr>
              <a:t>VIVRE ENSEMBLE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3B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société sans chef… ou presque</a:t>
            </a:r>
            <a:endParaRPr lang="en-US" sz="3800" dirty="0"/>
          </a:p>
        </p:txBody>
      </p:sp>
      <p:sp>
        <p:nvSpPr>
          <p:cNvPr id="17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B2412"/>
                </a:solidFill>
              </a:rPr>
              <a:t>La reine pond, mais les ouvrières décident ensemble : où s’installer, quand essaimer, qui nourrir. Chacune change de métier en grandissant.</a:t>
            </a:r>
            <a:endParaRPr lang="en-US" sz="1800" dirty="0"/>
          </a:p>
        </p:txBody>
      </p:sp>
      <p:sp>
        <p:nvSpPr>
          <p:cNvPr id="18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3B2412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 j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2412"/>
                </a:solidFill>
              </a:rPr>
              <a:t>d’œuf à ouvrière</a:t>
            </a:r>
            <a:endParaRPr lang="en-US" sz="2800" dirty="0"/>
          </a:p>
        </p:txBody>
      </p:sp>
      <p:sp>
        <p:nvSpPr>
          <p:cNvPr id="19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3B2412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sem.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2412"/>
                </a:solidFill>
              </a:rPr>
              <a:t>de vie en été</a:t>
            </a:r>
            <a:endParaRPr lang="en-US" sz="2800" dirty="0"/>
          </a:p>
        </p:txBody>
      </p:sp>
      <p:sp>
        <p:nvSpPr>
          <p:cNvPr id="20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3B2412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2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mois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2412"/>
                </a:solidFill>
              </a:rPr>
              <a:t>de vie en hiver</a:t>
            </a:r>
            <a:endParaRPr lang="en-US" sz="2800" dirty="0"/>
          </a:p>
        </p:txBody>
      </p:sp>
      <p:sp>
        <p:nvSpPr>
          <p:cNvPr id="21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B2412"/>
                </a:solidFill>
              </a:rPr>
              <a:t>Ensemble, on va plus loin.</a:t>
            </a:r>
            <a:endParaRPr lang="en-US" sz="1600" dirty="0"/>
          </a:p>
        </p:txBody>
      </p:sp>
      <p:sp>
        <p:nvSpPr>
          <p:cNvPr id="22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3B2412">
              <a:alpha val="20000"/>
            </a:srgbClr>
          </a:solidFill>
          <a:ln/>
        </p:spPr>
      </p:sp>
      <p:pic>
        <p:nvPicPr>
          <p:cNvPr id="23" name="A|zoom|600" descr="/home/claude/bees/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24" name="A|fade|1300" descr="/home/claude/bees/fl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25" name="A|fade|1500" descr="/home/claude/bees/scar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5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8398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LANGAGE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Danser pour se faire comprendre</a:t>
            </a:r>
            <a:endParaRPr lang="en-US" sz="3800" dirty="0"/>
          </a:p>
        </p:txBody>
      </p:sp>
      <p:sp>
        <p:nvSpPr>
          <p:cNvPr id="17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Une butineuse revient danser : l’angle de la danse donne la direction par rapport au soleil, la durée du frétillement donne la distance.</a:t>
            </a:r>
            <a:endParaRPr lang="en-US" sz="1800" dirty="0"/>
          </a:p>
        </p:txBody>
      </p:sp>
      <p:sp>
        <p:nvSpPr>
          <p:cNvPr id="18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8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danse frétillante</a:t>
            </a:r>
            <a:endParaRPr lang="en-US" sz="2800" dirty="0"/>
          </a:p>
        </p:txBody>
      </p:sp>
      <p:sp>
        <p:nvSpPr>
          <p:cNvPr id="19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Angle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= direction</a:t>
            </a:r>
            <a:endParaRPr lang="en-US" sz="2800" dirty="0"/>
          </a:p>
        </p:txBody>
      </p:sp>
      <p:sp>
        <p:nvSpPr>
          <p:cNvPr id="20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Durée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= distance</a:t>
            </a:r>
            <a:endParaRPr lang="en-US" sz="2800" dirty="0"/>
          </a:p>
        </p:txBody>
      </p:sp>
      <p:sp>
        <p:nvSpPr>
          <p:cNvPr id="21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Bzzz = « suivez-moi ! »</a:t>
            </a:r>
            <a:endParaRPr lang="en-US" sz="1600" dirty="0"/>
          </a:p>
        </p:txBody>
      </p:sp>
      <p:sp>
        <p:nvSpPr>
          <p:cNvPr id="22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3" name="A|zoom|600" descr="/home/claude/bees/me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24" name="A|fade|1300" descr="/home/claude/bees/fl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25" name="A|fade|1500" descr="/home/claude/bees/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27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277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OR LIQUIDE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nectar au miel</a:t>
            </a:r>
            <a:endParaRPr lang="en-US" sz="3800" dirty="0"/>
          </a:p>
        </p:txBody>
      </p:sp>
      <p:sp>
        <p:nvSpPr>
          <p:cNvPr id="17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Le nectar est ramené au jabot, transmis de bouche en bouche, puis ventilé par les ailes jusqu’à devenir miel et être operculé dans les alvéoles.</a:t>
            </a:r>
            <a:endParaRPr lang="en-US" sz="1800" dirty="0"/>
          </a:p>
        </p:txBody>
      </p:sp>
      <p:sp>
        <p:nvSpPr>
          <p:cNvPr id="18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 fleurs pour 1 kg</a:t>
            </a:r>
            <a:endParaRPr lang="en-US" sz="2800" dirty="0"/>
          </a:p>
        </p:txBody>
      </p:sp>
      <p:sp>
        <p:nvSpPr>
          <p:cNvPr id="19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1/12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 cuillère par abeille, à vie</a:t>
            </a:r>
            <a:endParaRPr lang="en-US" sz="2800" dirty="0"/>
          </a:p>
        </p:txBody>
      </p:sp>
      <p:sp>
        <p:nvSpPr>
          <p:cNvPr id="20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~17 %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d’eau dans le miel mûr</a:t>
            </a:r>
            <a:endParaRPr lang="en-US" sz="2800" dirty="0"/>
          </a:p>
        </p:txBody>
      </p:sp>
      <p:sp>
        <p:nvSpPr>
          <p:cNvPr id="21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Douceur, conservée pour l’hiver.</a:t>
            </a:r>
            <a:endParaRPr lang="en-US" sz="1600" dirty="0"/>
          </a:p>
        </p:txBody>
      </p:sp>
      <p:sp>
        <p:nvSpPr>
          <p:cNvPr id="22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3" name="A|zoom|600" descr="/home/claude/bees/p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24" name="A|fade|1300" descr="/home/claude/bees/fl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25" name="A|fade|1500" descr="/home/claude/bees/he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05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QUI FAIT QUOI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castes, des dizaines de métiers</a:t>
            </a:r>
            <a:endParaRPr lang="en-US" sz="3600" dirty="0"/>
          </a:p>
        </p:txBody>
      </p:sp>
      <p:sp>
        <p:nvSpPr>
          <p:cNvPr id="17" name="A|zoom|500"/>
          <p:cNvSpPr txBox="1"/>
          <p:nvPr/>
        </p:nvSpPr>
        <p:spPr>
          <a:xfrm>
            <a:off x="640080" y="1920240"/>
            <a:ext cx="3474720" cy="3657600"/>
          </a:xfrm>
          <a:prstGeom prst="roundRect">
            <a:avLst>
              <a:gd name="adj" fmla="val 473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reine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 par ruche · jusqu’à 2 000 œufs par jour, elle unit la colonie par ses phéromones.</a:t>
            </a:r>
            <a:endParaRPr lang="en-US" sz="2400" dirty="0"/>
          </a:p>
        </p:txBody>
      </p:sp>
      <p:pic>
        <p:nvPicPr>
          <p:cNvPr id="18" name="A|zoom|650" descr="/home/claude/bees/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03120"/>
            <a:ext cx="1920240" cy="1920240"/>
          </a:xfrm>
          <a:prstGeom prst="rect">
            <a:avLst/>
          </a:prstGeom>
        </p:spPr>
      </p:pic>
      <p:sp>
        <p:nvSpPr>
          <p:cNvPr id="19" name="A|zoom|950"/>
          <p:cNvSpPr txBox="1"/>
          <p:nvPr/>
        </p:nvSpPr>
        <p:spPr>
          <a:xfrm>
            <a:off x="4389120" y="1920240"/>
            <a:ext cx="3474720" cy="3657600"/>
          </a:xfrm>
          <a:prstGeom prst="roundRect">
            <a:avLst>
              <a:gd name="adj" fmla="val 473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ouvrières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20 000 à 60 000 · nettoyeuses, nourrices, bâtisseuses, gardiennes puis butineuses.</a:t>
            </a:r>
            <a:endParaRPr lang="en-US" sz="2400" dirty="0"/>
          </a:p>
        </p:txBody>
      </p:sp>
      <p:pic>
        <p:nvPicPr>
          <p:cNvPr id="20" name="A|zoom|1100" descr="/home/claude/bees/n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103120"/>
            <a:ext cx="1920240" cy="1920240"/>
          </a:xfrm>
          <a:prstGeom prst="rect">
            <a:avLst/>
          </a:prstGeom>
        </p:spPr>
      </p:pic>
      <p:sp>
        <p:nvSpPr>
          <p:cNvPr id="21" name="A|zoom|1400"/>
          <p:cNvSpPr txBox="1"/>
          <p:nvPr/>
        </p:nvSpPr>
        <p:spPr>
          <a:xfrm>
            <a:off x="8138160" y="1920240"/>
            <a:ext cx="3474720" cy="3657600"/>
          </a:xfrm>
          <a:prstGeom prst="roundRect">
            <a:avLst>
              <a:gd name="adj" fmla="val 473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faux-bourdons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0 à 2 000 · les mâles servent à la reproduction et sont chassés avant l’hiver.</a:t>
            </a:r>
            <a:endParaRPr lang="en-US" sz="2400" dirty="0"/>
          </a:p>
        </p:txBody>
      </p:sp>
      <p:pic>
        <p:nvPicPr>
          <p:cNvPr id="22" name="A|zoom|1550" descr="/home/claude/bees/meg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103120"/>
            <a:ext cx="1920240" cy="1920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F8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035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ÉTÉ &amp; HIVER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population respire avec l’année</a:t>
            </a:r>
            <a:endParaRPr lang="en-US" sz="3600" dirty="0"/>
          </a:p>
        </p:txBody>
      </p:sp>
      <p:graphicFrame>
        <p:nvGraphicFramePr>
          <p:cNvPr id="17" name="A|wipe|600" descr=""/>
          <p:cNvGraphicFramePr/>
          <p:nvPr/>
        </p:nvGraphicFramePr>
        <p:xfrm>
          <a:off x="640080" y="178308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A|fade|1800"/>
          <p:cNvSpPr txBox="1"/>
          <p:nvPr/>
        </p:nvSpPr>
        <p:spPr>
          <a:xfrm>
            <a:off x="640080" y="5577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Ordre de grandeur · bleu : hiver</a:t>
            </a:r>
            <a:endParaRPr lang="en-US" sz="1200" dirty="0"/>
          </a:p>
        </p:txBody>
      </p:sp>
      <p:sp>
        <p:nvSpPr>
          <p:cNvPr id="19" name="A|zoom|1000"/>
          <p:cNvSpPr txBox="1"/>
          <p:nvPr/>
        </p:nvSpPr>
        <p:spPr>
          <a:xfrm>
            <a:off x="7863840" y="1828800"/>
            <a:ext cx="365760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Été · ~50 000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ouvrières · 1 reine · ~1 500 mâles : pic de ponte et de miellée</a:t>
            </a:r>
            <a:endParaRPr lang="en-US" sz="3000" dirty="0"/>
          </a:p>
        </p:txBody>
      </p:sp>
      <p:sp>
        <p:nvSpPr>
          <p:cNvPr id="20" name="A|zoom|1300"/>
          <p:cNvSpPr txBox="1"/>
          <p:nvPr/>
        </p:nvSpPr>
        <p:spPr>
          <a:xfrm>
            <a:off x="7863840" y="3840480"/>
            <a:ext cx="365760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Hiver · ~15 000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ouvrières · 1 reine · 0 mâle : elles frissonnent en grappe, sans hiberner</a:t>
            </a:r>
            <a:endParaRPr lang="en-US" sz="3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5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914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ville en hexagones</a:t>
            </a:r>
            <a:endParaRPr lang="en-US" sz="3800" dirty="0"/>
          </a:p>
        </p:txBody>
      </p:sp>
      <p:sp>
        <p:nvSpPr>
          <p:cNvPr id="17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Le couvain occupe le centre, le plus chaud. Autour, l’anneau de pollen, puis les réserves de miel en haut. L’hexagone économise la cire et ne perd aucune place.</a:t>
            </a:r>
            <a:endParaRPr lang="en-US" sz="1800" dirty="0"/>
          </a:p>
        </p:txBody>
      </p:sp>
      <p:sp>
        <p:nvSpPr>
          <p:cNvPr id="18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couvain : œufs et larves</a:t>
            </a:r>
            <a:endParaRPr lang="en-US" sz="2800" dirty="0"/>
          </a:p>
        </p:txBody>
      </p:sp>
      <p:sp>
        <p:nvSpPr>
          <p:cNvPr id="19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Anneau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pollen</a:t>
            </a:r>
            <a:endParaRPr lang="en-US" sz="2800" dirty="0"/>
          </a:p>
        </p:txBody>
      </p:sp>
      <p:sp>
        <p:nvSpPr>
          <p:cNvPr id="20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Haut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réserves de miel</a:t>
            </a:r>
            <a:endParaRPr lang="en-US" sz="2800" dirty="0"/>
          </a:p>
        </p:txBody>
      </p:sp>
      <p:sp>
        <p:nvSpPr>
          <p:cNvPr id="21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Chaque cellule a sa place.</a:t>
            </a:r>
            <a:endParaRPr lang="en-US" sz="1600" dirty="0"/>
          </a:p>
        </p:txBody>
      </p:sp>
      <p:sp>
        <p:nvSpPr>
          <p:cNvPr id="22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3" name="A|zoom|600" descr="/home/claude/bees/h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24" name="A|fade|1300" descr="/home/claude/bees/p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25" name="A|fade|1500" descr="/home/claude/bees/fl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B7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2794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QUI EST QUI ?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Abeille, bourdon, guêpe, frelon : ne les confondons plus</a:t>
            </a:r>
            <a:endParaRPr lang="en-US" sz="3400" dirty="0"/>
          </a:p>
        </p:txBody>
      </p:sp>
      <p:pic>
        <p:nvPicPr>
          <p:cNvPr id="17" name="A|zoom|600" descr="/home/claude/bees/n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79776"/>
            <a:ext cx="1426464" cy="1426464"/>
          </a:xfrm>
          <a:prstGeom prst="rect">
            <a:avLst/>
          </a:prstGeom>
        </p:spPr>
      </p:pic>
      <p:sp>
        <p:nvSpPr>
          <p:cNvPr id="18" name="A|fade|800"/>
          <p:cNvSpPr txBox="1"/>
          <p:nvPr/>
        </p:nvSpPr>
        <p:spPr>
          <a:xfrm>
            <a:off x="256032" y="4297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 cm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Abeille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Duveteuse, ne pique qu’une fois</a:t>
            </a:r>
            <a:endParaRPr lang="en-US" sz="2200" dirty="0"/>
          </a:p>
        </p:txBody>
      </p:sp>
      <p:pic>
        <p:nvPicPr>
          <p:cNvPr id="19" name="A|zoom|1100" descr="/home/claude/bees/bum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231136"/>
            <a:ext cx="1975104" cy="1975104"/>
          </a:xfrm>
          <a:prstGeom prst="rect">
            <a:avLst/>
          </a:prstGeom>
        </p:spPr>
      </p:pic>
      <p:sp>
        <p:nvSpPr>
          <p:cNvPr id="20" name="A|fade|1300"/>
          <p:cNvSpPr txBox="1"/>
          <p:nvPr/>
        </p:nvSpPr>
        <p:spPr>
          <a:xfrm>
            <a:off x="2871216" y="4297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 cm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Bourdon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Ronde et très velue</a:t>
            </a:r>
            <a:endParaRPr lang="en-US" sz="2200" dirty="0"/>
          </a:p>
        </p:txBody>
      </p:sp>
      <p:pic>
        <p:nvPicPr>
          <p:cNvPr id="21" name="A|zoom|1600" descr="/home/claude/bees/was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560320"/>
            <a:ext cx="1645920" cy="1645920"/>
          </a:xfrm>
          <a:prstGeom prst="rect">
            <a:avLst/>
          </a:prstGeom>
        </p:spPr>
      </p:pic>
      <p:sp>
        <p:nvSpPr>
          <p:cNvPr id="22" name="A|fade|1800"/>
          <p:cNvSpPr txBox="1"/>
          <p:nvPr/>
        </p:nvSpPr>
        <p:spPr>
          <a:xfrm>
            <a:off x="5596128" y="4297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 cm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Guêpe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Lisse, taille fine</a:t>
            </a:r>
            <a:endParaRPr lang="en-US" sz="2200" dirty="0"/>
          </a:p>
        </p:txBody>
      </p:sp>
      <p:pic>
        <p:nvPicPr>
          <p:cNvPr id="23" name="A|zoom|2100" descr="/home/claude/bees/hor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1463040"/>
            <a:ext cx="2743200" cy="2743200"/>
          </a:xfrm>
          <a:prstGeom prst="rect">
            <a:avLst/>
          </a:prstGeom>
        </p:spPr>
      </p:pic>
      <p:sp>
        <p:nvSpPr>
          <p:cNvPr id="24" name="A|fade|2300"/>
          <p:cNvSpPr txBox="1"/>
          <p:nvPr/>
        </p:nvSpPr>
        <p:spPr>
          <a:xfrm>
            <a:off x="8705088" y="42976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 cm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Frelon asiatique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Une bande orangée · à signaler</a:t>
            </a:r>
            <a:endParaRPr lang="en-US" sz="22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F6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3673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JEU DE CARTES ET QUIZ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Jouez avec le code couleur</a:t>
            </a:r>
            <a:endParaRPr lang="en-US" sz="3600" dirty="0"/>
          </a:p>
        </p:txBody>
      </p:sp>
      <p:sp>
        <p:nvSpPr>
          <p:cNvPr id="17" name="A|zoom|500"/>
          <p:cNvSpPr txBox="1"/>
          <p:nvPr/>
        </p:nvSpPr>
        <p:spPr>
          <a:xfrm>
            <a:off x="640080" y="187452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F57C00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Ruche</a:t>
            </a:r>
            <a:endParaRPr lang="en-US" sz="1600" dirty="0"/>
          </a:p>
        </p:txBody>
      </p:sp>
      <p:sp>
        <p:nvSpPr>
          <p:cNvPr id="18" name="A|zoom|650"/>
          <p:cNvSpPr txBox="1"/>
          <p:nvPr/>
        </p:nvSpPr>
        <p:spPr>
          <a:xfrm>
            <a:off x="3474720" y="187452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E09A00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Communauté</a:t>
            </a:r>
            <a:endParaRPr lang="en-US" sz="1600" dirty="0"/>
          </a:p>
        </p:txBody>
      </p:sp>
      <p:sp>
        <p:nvSpPr>
          <p:cNvPr id="19" name="A|zoom|800"/>
          <p:cNvSpPr txBox="1"/>
          <p:nvPr/>
        </p:nvSpPr>
        <p:spPr>
          <a:xfrm>
            <a:off x="640080" y="274320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D9552B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20" name="A|zoom|950"/>
          <p:cNvSpPr txBox="1"/>
          <p:nvPr/>
        </p:nvSpPr>
        <p:spPr>
          <a:xfrm>
            <a:off x="3474720" y="274320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C27A08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Miel</a:t>
            </a:r>
            <a:endParaRPr lang="en-US" sz="1600" dirty="0"/>
          </a:p>
        </p:txBody>
      </p:sp>
      <p:sp>
        <p:nvSpPr>
          <p:cNvPr id="21" name="A|zoom|1100"/>
          <p:cNvSpPr txBox="1"/>
          <p:nvPr/>
        </p:nvSpPr>
        <p:spPr>
          <a:xfrm>
            <a:off x="640080" y="361188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B0502A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Rôles</a:t>
            </a:r>
            <a:endParaRPr lang="en-US" sz="1600" dirty="0"/>
          </a:p>
        </p:txBody>
      </p:sp>
      <p:sp>
        <p:nvSpPr>
          <p:cNvPr id="22" name="A|zoom|1250"/>
          <p:cNvSpPr txBox="1"/>
          <p:nvPr/>
        </p:nvSpPr>
        <p:spPr>
          <a:xfrm>
            <a:off x="3474720" y="361188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4F8A78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Saisons</a:t>
            </a:r>
            <a:endParaRPr lang="en-US" sz="1600" dirty="0"/>
          </a:p>
        </p:txBody>
      </p:sp>
      <p:sp>
        <p:nvSpPr>
          <p:cNvPr id="23" name="A|zoom|1400"/>
          <p:cNvSpPr txBox="1"/>
          <p:nvPr/>
        </p:nvSpPr>
        <p:spPr>
          <a:xfrm>
            <a:off x="640080" y="4480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8A5A3C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Organisation</a:t>
            </a:r>
            <a:endParaRPr lang="en-US" sz="1600" dirty="0"/>
          </a:p>
        </p:txBody>
      </p:sp>
      <p:sp>
        <p:nvSpPr>
          <p:cNvPr id="24" name="A|zoom|1550"/>
          <p:cNvSpPr txBox="1"/>
          <p:nvPr/>
        </p:nvSpPr>
        <p:spPr>
          <a:xfrm>
            <a:off x="3474720" y="4480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6B7D2A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Cousins</a:t>
            </a:r>
            <a:endParaRPr lang="en-US" sz="1600" dirty="0"/>
          </a:p>
        </p:txBody>
      </p:sp>
      <p:sp>
        <p:nvSpPr>
          <p:cNvPr id="25" name="A|fade|1700"/>
          <p:cNvSpPr txBox="1"/>
          <p:nvPr/>
        </p:nvSpPr>
        <p:spPr>
          <a:xfrm>
            <a:off x="6766560" y="1874520"/>
            <a:ext cx="4754880" cy="1554480"/>
          </a:xfrm>
          <a:prstGeom prst="roundRect">
            <a:avLst>
              <a:gd name="adj" fmla="val 1058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 de cartes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16 cartes recto-verso, une couleur par thème : collection, memory et version imprimable</a:t>
            </a:r>
            <a:endParaRPr lang="en-US" sz="2600" dirty="0"/>
          </a:p>
        </p:txBody>
      </p:sp>
      <p:sp>
        <p:nvSpPr>
          <p:cNvPr id="26" name="A|fade|2000"/>
          <p:cNvSpPr txBox="1"/>
          <p:nvPr/>
        </p:nvSpPr>
        <p:spPr>
          <a:xfrm>
            <a:off x="6766560" y="3657600"/>
            <a:ext cx="4754880" cy="1554480"/>
          </a:xfrm>
          <a:prstGeom prst="roundRect">
            <a:avLst>
              <a:gd name="adj" fmla="val 10588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du happy-culteur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6 questions · 5 bonnes réponses ou plus = diplôme à télécharger</a:t>
            </a:r>
            <a:endParaRPr lang="en-US" sz="2600" dirty="0"/>
          </a:p>
        </p:txBody>
      </p:sp>
      <p:pic>
        <p:nvPicPr>
          <p:cNvPr id="27" name="A|zoom|1500" descr="/home/claude/bees/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7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190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666951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5783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710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9589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030468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21347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1222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03106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93985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84864" y="63367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/home/claude/bees/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5870448"/>
            <a:ext cx="548640" cy="548640"/>
          </a:xfrm>
          <a:prstGeom prst="rect">
            <a:avLst/>
          </a:prstGeom>
        </p:spPr>
      </p:pic>
      <p:sp>
        <p:nvSpPr>
          <p:cNvPr id="15" name="A|fade|0"/>
          <p:cNvSpPr txBox="1"/>
          <p:nvPr/>
        </p:nvSpPr>
        <p:spPr>
          <a:xfrm>
            <a:off x="64008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POUR FINIR</a:t>
            </a:r>
            <a:endParaRPr lang="en-US" sz="1400" dirty="0"/>
          </a:p>
        </p:txBody>
      </p:sp>
      <p:sp>
        <p:nvSpPr>
          <p:cNvPr id="16" name="A|wipe|200"/>
          <p:cNvSpPr txBox="1"/>
          <p:nvPr/>
        </p:nvSpPr>
        <p:spPr>
          <a:xfrm>
            <a:off x="640080" y="914400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Merci, et bzzz !</a:t>
            </a:r>
            <a:endParaRPr lang="en-US" sz="5000" dirty="0"/>
          </a:p>
        </p:txBody>
      </p:sp>
      <p:sp>
        <p:nvSpPr>
          <p:cNvPr id="17" name="A|fade|700"/>
          <p:cNvSpPr txBox="1"/>
          <p:nvPr/>
        </p:nvSpPr>
        <p:spPr>
          <a:xfrm>
            <a:off x="640080" y="269748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Chaque geste compte pour la ruche : voici trois façons d’aider les abeilles au quotidien.</a:t>
            </a:r>
            <a:endParaRPr lang="en-US" sz="1800" dirty="0"/>
          </a:p>
        </p:txBody>
      </p:sp>
      <p:sp>
        <p:nvSpPr>
          <p:cNvPr id="18" name="A|zoom|1100"/>
          <p:cNvSpPr txBox="1"/>
          <p:nvPr/>
        </p:nvSpPr>
        <p:spPr>
          <a:xfrm>
            <a:off x="64008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Planter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des fleurs mellifères</a:t>
            </a:r>
            <a:endParaRPr lang="en-US" sz="2800" dirty="0"/>
          </a:p>
        </p:txBody>
      </p:sp>
      <p:sp>
        <p:nvSpPr>
          <p:cNvPr id="19" name="A|zoom|1350"/>
          <p:cNvSpPr txBox="1"/>
          <p:nvPr/>
        </p:nvSpPr>
        <p:spPr>
          <a:xfrm>
            <a:off x="274320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Limiter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les pesticides</a:t>
            </a:r>
            <a:endParaRPr lang="en-US" sz="2800" dirty="0"/>
          </a:p>
        </p:txBody>
      </p:sp>
      <p:sp>
        <p:nvSpPr>
          <p:cNvPr id="20" name="A|zoom|1600"/>
          <p:cNvSpPr txBox="1"/>
          <p:nvPr/>
        </p:nvSpPr>
        <p:spPr>
          <a:xfrm>
            <a:off x="4846320" y="4114800"/>
            <a:ext cx="1920240" cy="123444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Soutenir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les apiculteurs</a:t>
            </a:r>
            <a:endParaRPr lang="en-US" sz="2800" dirty="0"/>
          </a:p>
        </p:txBody>
      </p:sp>
      <p:sp>
        <p:nvSpPr>
          <p:cNvPr id="21" name="A|fade|2000"/>
          <p:cNvSpPr txBox="1"/>
          <p:nvPr/>
        </p:nvSpPr>
        <p:spPr>
          <a:xfrm>
            <a:off x="640080" y="5468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Protégeons-les, elles nous le rendent en douceur.</a:t>
            </a:r>
            <a:endParaRPr lang="en-US" sz="1600" dirty="0"/>
          </a:p>
        </p:txBody>
      </p:sp>
      <p:sp>
        <p:nvSpPr>
          <p:cNvPr id="22" name="A|zoom|300"/>
          <p:cNvSpPr/>
          <p:nvPr/>
        </p:nvSpPr>
        <p:spPr>
          <a:xfrm>
            <a:off x="7498080" y="868680"/>
            <a:ext cx="4297680" cy="429768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3" name="A|zoom|600" descr="/home/claude/bees/fl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80160"/>
            <a:ext cx="3474720" cy="3474720"/>
          </a:xfrm>
          <a:prstGeom prst="rect">
            <a:avLst/>
          </a:prstGeom>
        </p:spPr>
      </p:pic>
      <p:pic>
        <p:nvPicPr>
          <p:cNvPr id="24" name="A|fade|1300" descr="/home/claude/bees/p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1188720" cy="1188720"/>
          </a:xfrm>
          <a:prstGeom prst="rect">
            <a:avLst/>
          </a:prstGeom>
        </p:spPr>
      </p:pic>
      <p:pic>
        <p:nvPicPr>
          <p:cNvPr id="25" name="A|fade|1500" descr="/home/claude/bees/scar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zzz">
  <a:themeElements>
    <a:clrScheme name="Bzzz">
      <a:dk1>
        <a:srgbClr val="3B2412"/>
      </a:dk1>
      <a:lt1>
        <a:srgbClr val="FFFFFF"/>
      </a:lt1>
      <a:dk2>
        <a:srgbClr val="8A5A3C"/>
      </a:dk2>
      <a:lt2>
        <a:srgbClr val="FFFFFF"/>
      </a:lt2>
      <a:accent1>
        <a:srgbClr val="F57C00"/>
      </a:accent1>
      <a:accent2>
        <a:srgbClr val="E09A00"/>
      </a:accent2>
      <a:accent3>
        <a:srgbClr val="D9552B"/>
      </a:accent3>
      <a:accent4>
        <a:srgbClr val="C27A08"/>
      </a:accent4>
      <a:accent5>
        <a:srgbClr val="4F8A78"/>
      </a:accent5>
      <a:accent6>
        <a:srgbClr val="B0502A"/>
      </a:accent6>
      <a:hlink>
        <a:srgbClr val="D9552B"/>
      </a:hlink>
      <a:folHlink>
        <a:srgbClr val="8A5A3C"/>
      </a:folHlink>
    </a:clrScheme>
    <a:fontScheme name="Bzz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monde des abeilles</dc:title>
  <dc:subject>PptxGenJS Presentation</dc:subject>
  <dc:creator>Bzzz</dc:creator>
  <cp:lastModifiedBy>Bzzz</cp:lastModifiedBy>
  <cp:revision>1</cp:revision>
  <dcterms:created xsi:type="dcterms:W3CDTF">2026-10-06T23:50:39Z</dcterms:created>
  <dcterms:modified xsi:type="dcterms:W3CDTF">2026-10-06T23:50:39Z</dcterms:modified>
</cp:coreProperties>
</file>